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3588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380880" y="685440"/>
            <a:ext cx="609624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822433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D43CDE0-2684-4FCB-9438-18242E061BD7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‹N›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FFBF5C-7BB5-4DF0-B1D9-8EE4858A19CF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65970A3-A302-40B2-8BC8-655F0109AA94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2CE7D5-AF71-4EFF-A58D-B573BFAD4C90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FFE374-6CB7-4E54-9CB8-67FBD40C0624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1CC7D7-4768-4A7F-A6E5-2E2CCCF24CED}" type="slidenum">
              <a:t>‹N›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13"/>
          <p:cNvGrpSpPr/>
          <p:nvPr/>
        </p:nvGrpSpPr>
        <p:grpSpPr>
          <a:xfrm>
            <a:off x="0" y="5992920"/>
            <a:ext cx="12192120" cy="911160"/>
            <a:chOff x="0" y="5992920"/>
            <a:chExt cx="12192120" cy="911160"/>
          </a:xfrm>
        </p:grpSpPr>
        <p:grpSp>
          <p:nvGrpSpPr>
            <p:cNvPr id="11" name="Group 15"/>
            <p:cNvGrpSpPr/>
            <p:nvPr/>
          </p:nvGrpSpPr>
          <p:grpSpPr>
            <a:xfrm>
              <a:off x="0" y="5992920"/>
              <a:ext cx="12192120" cy="911160"/>
              <a:chOff x="0" y="5992920"/>
              <a:chExt cx="12192120" cy="911160"/>
            </a:xfrm>
          </p:grpSpPr>
          <p:sp>
            <p:nvSpPr>
              <p:cNvPr id="2" name="Rectangle 14"/>
              <p:cNvSpPr/>
              <p:nvPr/>
            </p:nvSpPr>
            <p:spPr>
              <a:xfrm>
                <a:off x="1219320" y="5992920"/>
                <a:ext cx="10972800" cy="911160"/>
              </a:xfrm>
              <a:prstGeom prst="rect">
                <a:avLst/>
              </a:prstGeom>
              <a:solidFill>
                <a:srgbClr val="82243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Rectangle 13"/>
              <p:cNvSpPr/>
              <p:nvPr/>
            </p:nvSpPr>
            <p:spPr>
              <a:xfrm>
                <a:off x="0" y="6221160"/>
                <a:ext cx="12192120" cy="682560"/>
              </a:xfrm>
              <a:prstGeom prst="rect">
                <a:avLst/>
              </a:prstGeom>
              <a:solidFill>
                <a:srgbClr val="82243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4" name="Immagine 15"/>
            <p:cNvPicPr/>
            <p:nvPr/>
          </p:nvPicPr>
          <p:blipFill>
            <a:blip r:embed="rId3"/>
            <a:stretch/>
          </p:blipFill>
          <p:spPr>
            <a:xfrm>
              <a:off x="880560" y="6354000"/>
              <a:ext cx="143496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822433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342800" y="1752480"/>
            <a:ext cx="1022508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601"/>
              </a:spcBef>
              <a:buClr>
                <a:srgbClr val="822433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562040" lvl="3" indent="-22860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1981080" lvl="4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1981080" lvl="5" indent="-228600">
              <a:spcBef>
                <a:spcPts val="601"/>
              </a:spcBef>
              <a:buClr>
                <a:srgbClr val="822433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1981080" lvl="6" indent="-228600">
              <a:spcBef>
                <a:spcPts val="601"/>
              </a:spcBef>
              <a:buClr>
                <a:srgbClr val="822433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6197400" y="6446880"/>
            <a:ext cx="2539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76BC31-202F-461B-AEE8-1209995E88E5}" type="datetime">
              <a: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21/09/2026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2566800" y="6446880"/>
            <a:ext cx="360036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Titolo Presentazione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737560" y="6446880"/>
            <a:ext cx="254016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Pagina </a:t>
            </a:r>
            <a:fld id="{C0E2A93D-8D98-4B0C-8217-6467D2BFE715}" type="slidenum">
              <a:rPr lang="it-IT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‹N›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/>
          <p:nvPr/>
        </p:nvSpPr>
        <p:spPr>
          <a:xfrm>
            <a:off x="0" y="0"/>
            <a:ext cx="12192120" cy="3429000"/>
          </a:xfrm>
          <a:prstGeom prst="rect">
            <a:avLst/>
          </a:prstGeom>
          <a:solidFill>
            <a:srgbClr val="0067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5640" y="409680"/>
            <a:ext cx="9210600" cy="5810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000" b="1" dirty="0">
                <a:solidFill>
                  <a:srgbClr val="FFFFFF"/>
                </a:solidFill>
                <a:latin typeface="Arial"/>
              </a:rPr>
              <a:t>Game DNA</a:t>
            </a:r>
            <a:endParaRPr lang="en-US" sz="2400" b="1" u="none" strike="noStrike" dirty="0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2147988" y="973836"/>
            <a:ext cx="9210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indent="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Visual Analytics for Video Game Market Positioning</a:t>
            </a:r>
            <a:endParaRPr lang="it-IT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roup 17"/>
          <p:cNvGrpSpPr/>
          <p:nvPr/>
        </p:nvGrpSpPr>
        <p:grpSpPr>
          <a:xfrm>
            <a:off x="0" y="2759040"/>
            <a:ext cx="12191760" cy="4098960"/>
            <a:chOff x="0" y="2759040"/>
            <a:chExt cx="12191760" cy="4098960"/>
          </a:xfrm>
        </p:grpSpPr>
        <p:pic>
          <p:nvPicPr>
            <p:cNvPr id="21" name="Picture 15" descr="Fondino"/>
            <p:cNvPicPr/>
            <p:nvPr/>
          </p:nvPicPr>
          <p:blipFill>
            <a:blip r:embed="rId3"/>
            <a:stretch/>
          </p:blipFill>
          <p:spPr>
            <a:xfrm>
              <a:off x="0" y="3425760"/>
              <a:ext cx="12191760" cy="3432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" name="Picture 13"/>
            <p:cNvPicPr/>
            <p:nvPr/>
          </p:nvPicPr>
          <p:blipFill>
            <a:blip r:embed="rId4"/>
            <a:stretch/>
          </p:blipFill>
          <p:spPr>
            <a:xfrm>
              <a:off x="0" y="3429000"/>
              <a:ext cx="9145440" cy="114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" name="Picture 16" descr="fascia"/>
            <p:cNvPicPr/>
            <p:nvPr/>
          </p:nvPicPr>
          <p:blipFill>
            <a:blip r:embed="rId5"/>
            <a:stretch/>
          </p:blipFill>
          <p:spPr>
            <a:xfrm>
              <a:off x="2063520" y="2759040"/>
              <a:ext cx="10128240" cy="669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4" name="TextBox 23"/>
          <p:cNvSpPr txBox="1"/>
          <p:nvPr/>
        </p:nvSpPr>
        <p:spPr>
          <a:xfrm>
            <a:off x="4251960" y="3913632"/>
            <a:ext cx="5303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rial"/>
              </a:rPr>
              <a:t>Visual Analytics — Final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325112"/>
            <a:ext cx="43891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rial"/>
              </a:rPr>
              <a:t>Simone Amoriello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690872"/>
            <a:ext cx="4389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rial"/>
              </a:rPr>
              <a:t>Sapienza University of Rome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983480"/>
            <a:ext cx="274320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Fall 202</a:t>
            </a:r>
            <a:r>
              <a:rPr lang="it-IT" sz="1200" b="0" dirty="0">
                <a:solidFill>
                  <a:srgbClr val="FFFFFF"/>
                </a:solidFill>
                <a:latin typeface="Arial"/>
              </a:rPr>
              <a:t>6</a:t>
            </a:r>
            <a:endParaRPr sz="1200" b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Problem, Goal &amp; Intended User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28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 dirty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Page 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344168" y="1325880"/>
            <a:ext cx="48006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2768" y="1636776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1847088"/>
            <a:ext cx="43434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rial"/>
              </a:rPr>
              <a:t>Steam games differ simultaneously in popularity, appreciation, engagement, price, age and market reach. Looking at each variable separately does not reveal their overall market positioning.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3136392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3346704"/>
            <a:ext cx="434340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2D2D2D"/>
                </a:solidFill>
                <a:latin typeface="Arial"/>
              </a:rPr>
              <a:t>Build an interactive Visual Analytics system that makes multidimensional market structure explorable and interpretable.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4517135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Intended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4727448"/>
            <a:ext cx="4343400" cy="7498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0" dirty="0">
                <a:solidFill>
                  <a:srgbClr val="2D2D2D"/>
                </a:solidFill>
                <a:latin typeface="Arial"/>
              </a:rPr>
              <a:t>Game-market analyst working for a small or medium-sized PC developer or publisher.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73368" y="1325880"/>
            <a:ext cx="5257800" cy="452628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4088" y="1537273"/>
            <a:ext cx="475488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Main analytical questions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1993392"/>
            <a:ext cx="384048" cy="384048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2055587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6860" y="2050418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0" dirty="0">
                <a:solidFill>
                  <a:srgbClr val="2D2D2D"/>
                </a:solidFill>
                <a:latin typeface="Arial"/>
              </a:rPr>
              <a:t>Which multidimensional market groups emerge?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2862072"/>
            <a:ext cx="384048" cy="384048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2926080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2843784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0" dirty="0">
                <a:solidFill>
                  <a:srgbClr val="2D2D2D"/>
                </a:solidFill>
                <a:latin typeface="Arial"/>
              </a:rPr>
              <a:t>Which Game DNA dimensions distinguish a selected group?</a:t>
            </a:r>
          </a:p>
        </p:txBody>
      </p:sp>
      <p:sp>
        <p:nvSpPr>
          <p:cNvPr id="46" name="Oval 45"/>
          <p:cNvSpPr/>
          <p:nvPr/>
        </p:nvSpPr>
        <p:spPr>
          <a:xfrm>
            <a:off x="6583680" y="3730752"/>
            <a:ext cx="384048" cy="384048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3785370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2" y="3712464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0" dirty="0">
                <a:solidFill>
                  <a:srgbClr val="2D2D2D"/>
                </a:solidFill>
                <a:latin typeface="Arial"/>
              </a:rPr>
              <a:t>Which titles have the most similar market profile?</a:t>
            </a:r>
          </a:p>
        </p:txBody>
      </p:sp>
      <p:sp>
        <p:nvSpPr>
          <p:cNvPr id="49" name="Oval 48"/>
          <p:cNvSpPr/>
          <p:nvPr/>
        </p:nvSpPr>
        <p:spPr>
          <a:xfrm>
            <a:off x="6583680" y="4599431"/>
            <a:ext cx="384048" cy="384048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4667764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4581144"/>
            <a:ext cx="406908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0" dirty="0">
                <a:solidFill>
                  <a:srgbClr val="2D2D2D"/>
                </a:solidFill>
                <a:latin typeface="Arial"/>
              </a:rPr>
              <a:t>Can similar market positions occur across different genres?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10"/>
          <p:cNvSpPr/>
          <p:nvPr/>
        </p:nvSpPr>
        <p:spPr>
          <a:xfrm>
            <a:off x="1342800" y="695592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 dirty="0">
                <a:solidFill>
                  <a:srgbClr val="5F5F5F"/>
                </a:solidFill>
                <a:latin typeface="Arial"/>
              </a:rPr>
              <a:t>Curated Steam sample and six market-oriented dimensions</a:t>
            </a:r>
            <a:endParaRPr lang="en-US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Page 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Dataset &amp; Game DNA Representation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36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44168" y="1298448"/>
            <a:ext cx="2377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Dataset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1645920"/>
            <a:ext cx="2423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90472" y="1746504"/>
            <a:ext cx="22768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 dirty="0">
                <a:solidFill>
                  <a:srgbClr val="822433"/>
                </a:solidFill>
                <a:latin typeface="Arial"/>
              </a:rPr>
              <a:t>125,855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0472" y="2176272"/>
            <a:ext cx="227685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0">
                <a:solidFill>
                  <a:srgbClr val="5F5F5F"/>
                </a:solidFill>
                <a:latin typeface="Arial"/>
              </a:rPr>
              <a:t>raw Steam entries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1645920"/>
            <a:ext cx="2423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07992" y="1746504"/>
            <a:ext cx="22768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>
                <a:solidFill>
                  <a:srgbClr val="822433"/>
                </a:solidFill>
                <a:latin typeface="Arial"/>
              </a:rPr>
              <a:t>18,170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2176272"/>
            <a:ext cx="227685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0">
                <a:solidFill>
                  <a:srgbClr val="5F5F5F"/>
                </a:solidFill>
                <a:latin typeface="Arial"/>
              </a:rPr>
              <a:t>candidate games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1645920"/>
            <a:ext cx="2423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25512" y="1746504"/>
            <a:ext cx="2276856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>
                <a:solidFill>
                  <a:srgbClr val="822433"/>
                </a:solidFill>
                <a:latin typeface="Arial"/>
              </a:rPr>
              <a:t>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2176272"/>
            <a:ext cx="227685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50" b="0">
                <a:solidFill>
                  <a:srgbClr val="5F5F5F"/>
                </a:solidFill>
                <a:latin typeface="Arial"/>
              </a:rPr>
              <a:t>final stratified sample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1847088"/>
            <a:ext cx="3657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5F5F5F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1847088"/>
            <a:ext cx="3657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5F5F5F"/>
                </a:solidFill>
                <a:latin typeface="Arial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1874519"/>
            <a:ext cx="1658520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 dirty="0">
                <a:solidFill>
                  <a:srgbClr val="006778"/>
                </a:solidFill>
                <a:latin typeface="Arial"/>
              </a:rPr>
              <a:t>AS = 5,000 × 6 = 30,000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4168" y="288036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822433"/>
                </a:solidFill>
                <a:latin typeface="Arial"/>
              </a:rPr>
              <a:t>Six Game DNA dimensions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17320" y="329184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63624" y="341071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Popularity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63624" y="3749039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Total Reviews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4880" y="329184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01184" y="341071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Appreciation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1184" y="3749039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Positive Ratio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29184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38744" y="341071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Engagement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8744" y="3749039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Average Playtime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17320" y="452628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63624" y="464515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Commercial Position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63624" y="4983480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Base Price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54880" y="452628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01184" y="464515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Maturity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01184" y="4983480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Release Age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2440" y="4526280"/>
            <a:ext cx="2880360" cy="91440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38744" y="4645152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822433"/>
                </a:solidFill>
                <a:latin typeface="Arial"/>
              </a:rPr>
              <a:t>Market Reach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38744" y="4983480"/>
            <a:ext cx="25877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0">
                <a:solidFill>
                  <a:srgbClr val="5F5F5F"/>
                </a:solidFill>
                <a:latin typeface="Arial"/>
              </a:rPr>
              <a:t>Language 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20" y="5623560"/>
            <a:ext cx="9966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rial"/>
              </a:rPr>
              <a:t>Feature preparation: log(1+x) on strongly right-skewed variables, then z-score standardization on all six dimensions.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Page 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Box 10"/>
          <p:cNvSpPr/>
          <p:nvPr/>
        </p:nvSpPr>
        <p:spPr>
          <a:xfrm>
            <a:off x="1342800" y="616536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>
                <a:solidFill>
                  <a:srgbClr val="5F5F5F"/>
                </a:solidFill>
                <a:latin typeface="Arial"/>
              </a:rPr>
              <a:t>PCA for overview; full six-dimensional space retained for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342800" y="338592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 dirty="0">
                <a:solidFill>
                  <a:srgbClr val="822433"/>
                </a:solidFill>
                <a:latin typeface="Arial"/>
              </a:rPr>
              <a:t>Dimensionality Reduction &amp; Analytical Functions</a:t>
            </a:r>
            <a:endParaRPr lang="it-IT" sz="2400" b="1" u="none" strike="noStrike" dirty="0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344168" y="1325880"/>
            <a:ext cx="470916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95628" y="1664209"/>
            <a:ext cx="4206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822433"/>
                </a:solidFill>
                <a:latin typeface="Arial"/>
              </a:rPr>
              <a:t>Principal Component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2011680"/>
            <a:ext cx="2331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dirty="0">
                <a:solidFill>
                  <a:srgbClr val="2D2D2D"/>
                </a:solidFill>
                <a:latin typeface="Arial"/>
              </a:rPr>
              <a:t>PC1 — Market Presence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2768" y="2359152"/>
            <a:ext cx="3611880" cy="292608"/>
          </a:xfrm>
          <a:prstGeom prst="rect">
            <a:avLst/>
          </a:prstGeom>
          <a:solidFill>
            <a:srgbClr val="E8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572768" y="2359152"/>
            <a:ext cx="1225296" cy="292608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367263"/>
            <a:ext cx="80467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 dirty="0">
                <a:solidFill>
                  <a:srgbClr val="006778"/>
                </a:solidFill>
                <a:latin typeface="Arial"/>
              </a:rPr>
              <a:t>33.83%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2834640"/>
            <a:ext cx="2331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 dirty="0">
                <a:solidFill>
                  <a:srgbClr val="2D2D2D"/>
                </a:solidFill>
                <a:latin typeface="Arial"/>
              </a:rPr>
              <a:t>PC2 — Market Legacy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3182112"/>
            <a:ext cx="3611880" cy="292608"/>
          </a:xfrm>
          <a:prstGeom prst="rect">
            <a:avLst/>
          </a:prstGeom>
          <a:solidFill>
            <a:srgbClr val="E8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572768" y="3182112"/>
            <a:ext cx="722376" cy="292608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3196664"/>
            <a:ext cx="80467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50" b="1" dirty="0">
                <a:solidFill>
                  <a:srgbClr val="822433"/>
                </a:solidFill>
                <a:latin typeface="Arial"/>
              </a:rPr>
              <a:t>20.00%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74519" y="3840480"/>
            <a:ext cx="13258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800" b="1" dirty="0">
                <a:solidFill>
                  <a:srgbClr val="006778"/>
                </a:solidFill>
                <a:latin typeface="Arial"/>
              </a:rPr>
              <a:t>53.83%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3822191"/>
            <a:ext cx="219456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5F5F5F"/>
                </a:solidFill>
                <a:latin typeface="Arial"/>
              </a:rPr>
              <a:t>variance preserved
in the 2D Game 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95628" y="4515267"/>
            <a:ext cx="420624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Arial"/>
              </a:rPr>
              <a:t>The remaining information is not discarded: the complete standardized 6-D representation is used for Parallel Coordinates and similarity.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63640" y="1325880"/>
            <a:ext cx="5321808" cy="4526280"/>
          </a:xfrm>
          <a:prstGeom prst="roundRect">
            <a:avLst/>
          </a:prstGeom>
          <a:solidFill>
            <a:srgbClr val="F2F3F4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75868" y="1496550"/>
            <a:ext cx="4754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dirty="0">
                <a:solidFill>
                  <a:srgbClr val="822433"/>
                </a:solidFill>
                <a:latin typeface="Arial"/>
              </a:rPr>
              <a:t>Three analytical functions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0173" y="1849862"/>
            <a:ext cx="4480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 dirty="0">
                <a:solidFill>
                  <a:srgbClr val="2D2D2D"/>
                </a:solidFill>
                <a:latin typeface="Arial"/>
              </a:rPr>
              <a:t>Group Characterization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2068" y="2569422"/>
            <a:ext cx="45262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20" b="0" dirty="0">
                <a:solidFill>
                  <a:srgbClr val="5F5F5F"/>
                </a:solidFill>
                <a:latin typeface="Arial"/>
              </a:rPr>
              <a:t>Compares the six standardized dimensions.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61020" y="2968062"/>
            <a:ext cx="4480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 dirty="0">
                <a:solidFill>
                  <a:srgbClr val="2D2D2D"/>
                </a:solidFill>
                <a:latin typeface="Arial"/>
              </a:rPr>
              <a:t>Tag Enrichment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59022" y="3767784"/>
            <a:ext cx="45262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20" b="0" dirty="0">
                <a:solidFill>
                  <a:srgbClr val="5F5F5F"/>
                </a:solidFill>
                <a:latin typeface="Arial"/>
              </a:rPr>
              <a:t>Finds over- and under-represented Steam tags.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1020" y="4161672"/>
            <a:ext cx="4480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 dirty="0">
                <a:solidFill>
                  <a:srgbClr val="2D2D2D"/>
                </a:solidFill>
                <a:latin typeface="Arial"/>
              </a:rPr>
              <a:t>Game Similarity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11880" y="5280354"/>
            <a:ext cx="45262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20" b="0" dirty="0">
                <a:solidFill>
                  <a:srgbClr val="5F5F5F"/>
                </a:solidFill>
                <a:latin typeface="Arial"/>
              </a:rPr>
              <a:t>Returns the five nearest market profiles.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43AC094-9F9B-4A1B-B161-38D4D8270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750" y="1934361"/>
            <a:ext cx="4235376" cy="84401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FACAD12-4BC1-5AA0-C533-92A2211625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002" y="3136751"/>
            <a:ext cx="4057116" cy="75864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C497E20-41D6-9504-0433-4CE57F4A96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423" y="4462271"/>
            <a:ext cx="3036030" cy="754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Page 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Box 10"/>
          <p:cNvSpPr/>
          <p:nvPr/>
        </p:nvSpPr>
        <p:spPr>
          <a:xfrm>
            <a:off x="1343160" y="776160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>
                <a:solidFill>
                  <a:srgbClr val="5F5F5F"/>
                </a:solidFill>
                <a:latin typeface="Arial"/>
              </a:rPr>
              <a:t>Four coordinated views: overview, multidimensional profile and analytical interpretation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Visual System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344168" y="1298448"/>
            <a:ext cx="49834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53895" y="1371600"/>
            <a:ext cx="4764024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>
                <a:solidFill>
                  <a:srgbClr val="822433"/>
                </a:solidFill>
                <a:latin typeface="Arial"/>
              </a:rPr>
              <a:t>Game 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53895" y="1609344"/>
            <a:ext cx="47640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PCA market overview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65392" y="1298448"/>
            <a:ext cx="50109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0" y="1371600"/>
            <a:ext cx="4791456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>
                <a:solidFill>
                  <a:srgbClr val="822433"/>
                </a:solidFill>
                <a:latin typeface="Arial"/>
              </a:rPr>
              <a:t>Game DNA 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1609344"/>
            <a:ext cx="479145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Parallel Coordinates over the six standardized dimensions</a:t>
            </a:r>
          </a:p>
        </p:txBody>
      </p:sp>
      <p:pic>
        <p:nvPicPr>
          <p:cNvPr id="58" name="Picture 57" descr="fig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749" y="1911095"/>
            <a:ext cx="4436197" cy="144475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388302" y="3666744"/>
            <a:ext cx="49834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453895" y="3749039"/>
            <a:ext cx="4764024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>
                <a:solidFill>
                  <a:srgbClr val="822433"/>
                </a:solidFill>
                <a:latin typeface="Arial"/>
              </a:rPr>
              <a:t>Analytics 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53895" y="3986783"/>
            <a:ext cx="47640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Group differences or nearest Game DNA profiles</a:t>
            </a:r>
          </a:p>
        </p:txBody>
      </p:sp>
      <p:pic>
        <p:nvPicPr>
          <p:cNvPr id="62" name="Picture 61" descr="fig-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315" y="4308552"/>
            <a:ext cx="1468523" cy="144475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6565392" y="3675887"/>
            <a:ext cx="501091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3749039"/>
            <a:ext cx="4791456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1">
                <a:solidFill>
                  <a:srgbClr val="822433"/>
                </a:solidFill>
                <a:latin typeface="Arial"/>
              </a:rPr>
              <a:t>Tag Analysis 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986783"/>
            <a:ext cx="4791456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rial"/>
              </a:rPr>
              <a:t>Most enriched and depleted Steam tags in the current group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85732" y="4425696"/>
            <a:ext cx="10972" cy="117043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729983" y="4416552"/>
            <a:ext cx="8412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5F5F5F"/>
                </a:solidFill>
                <a:latin typeface="Arial"/>
              </a:rPr>
              <a:t>Free to Play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5732" y="4453128"/>
            <a:ext cx="1451117" cy="11887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73425" y="4411980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rial"/>
              </a:rPr>
              <a:t>+60.5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9983" y="4645152"/>
            <a:ext cx="8412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5F5F5F"/>
                </a:solidFill>
                <a:latin typeface="Arial"/>
              </a:rPr>
              <a:t>Multiplayer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85732" y="4681728"/>
            <a:ext cx="1168089" cy="11887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90397" y="4640580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rial"/>
              </a:rPr>
              <a:t>+48.7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9983" y="4873752"/>
            <a:ext cx="8412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5F5F5F"/>
                </a:solidFill>
                <a:latin typeface="Arial"/>
              </a:rPr>
              <a:t>PvP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85732" y="4910328"/>
            <a:ext cx="942626" cy="11887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264934" y="4869180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2D2D2D"/>
                </a:solidFill>
                <a:latin typeface="Arial"/>
              </a:rPr>
              <a:t>+39.3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9983" y="5102352"/>
            <a:ext cx="8412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5F5F5F"/>
                </a:solidFill>
                <a:latin typeface="Arial"/>
              </a:rPr>
              <a:t>Indie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6835" y="5138928"/>
            <a:ext cx="498896" cy="11887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283915" y="5097780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2D2D2D"/>
                </a:solidFill>
                <a:latin typeface="Arial"/>
              </a:rPr>
              <a:t>-20.8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9983" y="5330952"/>
            <a:ext cx="8412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>
                <a:solidFill>
                  <a:srgbClr val="5F5F5F"/>
                </a:solidFill>
                <a:latin typeface="Arial"/>
              </a:rPr>
              <a:t>Puzzle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78718" y="5367528"/>
            <a:ext cx="307013" cy="11887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475798" y="5326380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1">
                <a:solidFill>
                  <a:srgbClr val="2D2D2D"/>
                </a:solidFill>
                <a:latin typeface="Arial"/>
              </a:rPr>
              <a:t>-12.8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0FAEF6E-8CB3-BBD4-0FF3-E535189661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230" y="4271425"/>
            <a:ext cx="1426799" cy="137839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26DCFEC-C4E6-AE53-A20D-4B532EC2D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462" y="1779022"/>
            <a:ext cx="3073705" cy="1633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>
                <a:solidFill>
                  <a:srgbClr val="FFFFFF"/>
                </a:solidFill>
                <a:latin typeface="Arial"/>
              </a:rPr>
              <a:t>Page 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Box 10"/>
          <p:cNvSpPr/>
          <p:nvPr/>
        </p:nvSpPr>
        <p:spPr>
          <a:xfrm>
            <a:off x="1343160" y="776160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>
                <a:solidFill>
                  <a:srgbClr val="5F5F5F"/>
                </a:solidFill>
                <a:latin typeface="Arial"/>
              </a:rPr>
              <a:t>Market segments discovered through group-level exploration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Representative Findings I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344168" y="137160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18488" y="1632646"/>
            <a:ext cx="384048" cy="384048"/>
          </a:xfrm>
          <a:prstGeom prst="ellipse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09344" y="1671582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93976" y="1545336"/>
            <a:ext cx="38679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Arial"/>
              </a:rPr>
              <a:t>High presence → Free-to-Play multiplayer subsegment</a:t>
            </a:r>
          </a:p>
        </p:txBody>
      </p:sp>
      <p:sp>
        <p:nvSpPr>
          <p:cNvPr id="63" name="Oval 62"/>
          <p:cNvSpPr/>
          <p:nvPr/>
        </p:nvSpPr>
        <p:spPr>
          <a:xfrm>
            <a:off x="1618488" y="2468880"/>
            <a:ext cx="91440" cy="91440"/>
          </a:xfrm>
          <a:prstGeom prst="ellipse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28800" y="2377440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PCA Market Focus: 232 games → 37 after Commercial Position refinement</a:t>
            </a:r>
          </a:p>
        </p:txBody>
      </p:sp>
      <p:sp>
        <p:nvSpPr>
          <p:cNvPr id="65" name="Oval 64"/>
          <p:cNvSpPr/>
          <p:nvPr/>
        </p:nvSpPr>
        <p:spPr>
          <a:xfrm>
            <a:off x="1618488" y="3035808"/>
            <a:ext cx="91440" cy="91440"/>
          </a:xfrm>
          <a:prstGeom prst="ellipse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828800" y="2944368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Popularity +2.37; Engagement +1.98; Commercial Position −1.60</a:t>
            </a:r>
          </a:p>
        </p:txBody>
      </p:sp>
      <p:sp>
        <p:nvSpPr>
          <p:cNvPr id="67" name="Oval 66"/>
          <p:cNvSpPr/>
          <p:nvPr/>
        </p:nvSpPr>
        <p:spPr>
          <a:xfrm>
            <a:off x="1618488" y="3602736"/>
            <a:ext cx="91440" cy="91440"/>
          </a:xfrm>
          <a:prstGeom prst="ellipse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28800" y="3511296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Free to Play +60.5 pp; Multiplayer +48.7 pp; PvP +39.3 pp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" y="4480560"/>
            <a:ext cx="4343400" cy="832104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28216" y="4562856"/>
            <a:ext cx="40325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6778"/>
                </a:solidFill>
                <a:latin typeface="Arial"/>
              </a:rPr>
              <a:t>INTERPRETATION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28216" y="4806241"/>
            <a:ext cx="4032504" cy="409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dirty="0">
                <a:solidFill>
                  <a:srgbClr val="2D2D2D"/>
                </a:solidFill>
                <a:latin typeface="Arial"/>
              </a:rPr>
              <a:t>A broad high-presence region contains a distinct low-price / F2P multiplayer subsegment.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7648" y="137160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601968" y="1700784"/>
            <a:ext cx="384048" cy="384048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01968" y="172910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77456" y="1545336"/>
            <a:ext cx="38679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Arial"/>
              </a:rPr>
              <a:t>Recent segment with strong reach</a:t>
            </a:r>
          </a:p>
        </p:txBody>
      </p:sp>
      <p:sp>
        <p:nvSpPr>
          <p:cNvPr id="76" name="Oval 75"/>
          <p:cNvSpPr/>
          <p:nvPr/>
        </p:nvSpPr>
        <p:spPr>
          <a:xfrm>
            <a:off x="6601968" y="2497196"/>
            <a:ext cx="91440" cy="91440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762052" y="2305692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 dirty="0">
                <a:solidFill>
                  <a:srgbClr val="5F5F5F"/>
                </a:solidFill>
                <a:latin typeface="Arial"/>
              </a:rPr>
              <a:t>Lower-right PCA Market Focus: 149 games</a:t>
            </a:r>
          </a:p>
        </p:txBody>
      </p:sp>
      <p:sp>
        <p:nvSpPr>
          <p:cNvPr id="78" name="Oval 77"/>
          <p:cNvSpPr/>
          <p:nvPr/>
        </p:nvSpPr>
        <p:spPr>
          <a:xfrm>
            <a:off x="6601968" y="3035808"/>
            <a:ext cx="91440" cy="91440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12280" y="2944368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 dirty="0">
                <a:solidFill>
                  <a:srgbClr val="5F5F5F"/>
                </a:solidFill>
                <a:latin typeface="Arial"/>
              </a:rPr>
              <a:t>Maturity −1.32; Market Reach +1.21; Commercial Position +0.91</a:t>
            </a:r>
          </a:p>
        </p:txBody>
      </p:sp>
      <p:sp>
        <p:nvSpPr>
          <p:cNvPr id="80" name="Oval 79"/>
          <p:cNvSpPr/>
          <p:nvPr/>
        </p:nvSpPr>
        <p:spPr>
          <a:xfrm>
            <a:off x="6601968" y="3602736"/>
            <a:ext cx="91440" cy="91440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12280" y="3511296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 dirty="0">
                <a:solidFill>
                  <a:srgbClr val="5F5F5F"/>
                </a:solidFill>
                <a:latin typeface="Arial"/>
              </a:rPr>
              <a:t>Popularity only +0.12 relative to the rest of the market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56248" y="4480560"/>
            <a:ext cx="4343400" cy="9144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11696" y="4562856"/>
            <a:ext cx="40325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22433"/>
                </a:solidFill>
                <a:latin typeface="Arial"/>
              </a:rPr>
              <a:t>INTERPRETATION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11696" y="4703905"/>
            <a:ext cx="4032504" cy="6140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dirty="0">
                <a:solidFill>
                  <a:srgbClr val="2D2D2D"/>
                </a:solidFill>
                <a:latin typeface="Arial"/>
              </a:rPr>
              <a:t>Recent titles can show broad reach and strong commercial positioning before accumulating high popularity.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>
                <a:solidFill>
                  <a:srgbClr val="FFFFFF"/>
                </a:solidFill>
                <a:latin typeface="Arial"/>
              </a:rPr>
              <a:t>Page 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Box 10"/>
          <p:cNvSpPr/>
          <p:nvPr/>
        </p:nvSpPr>
        <p:spPr>
          <a:xfrm>
            <a:off x="1343160" y="776160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>
                <a:solidFill>
                  <a:srgbClr val="5F5F5F"/>
                </a:solidFill>
                <a:latin typeface="Arial"/>
              </a:rPr>
              <a:t>Individual similarity and highly appreciated low-presence profiles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Representative Findings II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342791" y="1383104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64208" y="1701514"/>
            <a:ext cx="384048" cy="384048"/>
          </a:xfrm>
          <a:prstGeom prst="ellipse">
            <a:avLst/>
          </a:prstGeom>
          <a:solidFill>
            <a:srgbClr val="4DA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1664208" y="1755648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93976" y="1545336"/>
            <a:ext cx="38679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Arial"/>
              </a:rPr>
              <a:t>Cross-genre market similarity</a:t>
            </a:r>
          </a:p>
        </p:txBody>
      </p:sp>
      <p:sp>
        <p:nvSpPr>
          <p:cNvPr id="63" name="Oval 62"/>
          <p:cNvSpPr/>
          <p:nvPr/>
        </p:nvSpPr>
        <p:spPr>
          <a:xfrm>
            <a:off x="1618488" y="2468880"/>
            <a:ext cx="91440" cy="91440"/>
          </a:xfrm>
          <a:prstGeom prst="ellipse">
            <a:avLst/>
          </a:prstGeom>
          <a:solidFill>
            <a:srgbClr val="4DA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28800" y="2377440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Mixed-genre Market Focus: 63 games; Northgard: Definitive Edition selected</a:t>
            </a:r>
          </a:p>
        </p:txBody>
      </p:sp>
      <p:sp>
        <p:nvSpPr>
          <p:cNvPr id="65" name="Oval 64"/>
          <p:cNvSpPr/>
          <p:nvPr/>
        </p:nvSpPr>
        <p:spPr>
          <a:xfrm>
            <a:off x="1618488" y="3035808"/>
            <a:ext cx="91440" cy="91440"/>
          </a:xfrm>
          <a:prstGeom prst="ellipse">
            <a:avLst/>
          </a:prstGeom>
          <a:solidFill>
            <a:srgbClr val="4DA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828800" y="2944368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4 of the 5 nearest Game DNA profiles belong to different DisplayGenre categories</a:t>
            </a:r>
          </a:p>
        </p:txBody>
      </p:sp>
      <p:sp>
        <p:nvSpPr>
          <p:cNvPr id="67" name="Oval 66"/>
          <p:cNvSpPr/>
          <p:nvPr/>
        </p:nvSpPr>
        <p:spPr>
          <a:xfrm>
            <a:off x="1618488" y="3602736"/>
            <a:ext cx="91440" cy="91440"/>
          </a:xfrm>
          <a:prstGeom prst="ellipse">
            <a:avLst/>
          </a:prstGeom>
          <a:solidFill>
            <a:srgbClr val="4DA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28800" y="3511296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Similarity is computed in the complete standardized six-dimensional space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" y="4480560"/>
            <a:ext cx="4343400" cy="832104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28216" y="4562856"/>
            <a:ext cx="40325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DA146"/>
                </a:solidFill>
                <a:latin typeface="Arial"/>
              </a:rPr>
              <a:t>INTERPRETATION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28216" y="4806241"/>
            <a:ext cx="4032504" cy="409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dirty="0">
                <a:solidFill>
                  <a:srgbClr val="2D2D2D"/>
                </a:solidFill>
                <a:latin typeface="Arial"/>
              </a:rPr>
              <a:t>Genre and multidimensional market similarity capture different properties of a game.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7648" y="137160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611061" y="1633293"/>
            <a:ext cx="384048" cy="384048"/>
          </a:xfrm>
          <a:prstGeom prst="ellipse">
            <a:avLst/>
          </a:prstGeom>
          <a:solidFill>
            <a:srgbClr val="B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01280" y="1679013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77456" y="1545336"/>
            <a:ext cx="38679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Arial"/>
              </a:rPr>
              <a:t>High appreciation ≠ high market presence</a:t>
            </a:r>
          </a:p>
        </p:txBody>
      </p:sp>
      <p:sp>
        <p:nvSpPr>
          <p:cNvPr id="76" name="Oval 75"/>
          <p:cNvSpPr/>
          <p:nvPr/>
        </p:nvSpPr>
        <p:spPr>
          <a:xfrm>
            <a:off x="6601968" y="2468880"/>
            <a:ext cx="91440" cy="91440"/>
          </a:xfrm>
          <a:prstGeom prst="ellipse">
            <a:avLst/>
          </a:prstGeom>
          <a:solidFill>
            <a:srgbClr val="B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12280" y="2377440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Low-presence region refined by high Appreciation → 51 games</a:t>
            </a:r>
          </a:p>
        </p:txBody>
      </p:sp>
      <p:sp>
        <p:nvSpPr>
          <p:cNvPr id="78" name="Oval 77"/>
          <p:cNvSpPr/>
          <p:nvPr/>
        </p:nvSpPr>
        <p:spPr>
          <a:xfrm>
            <a:off x="6601968" y="3035808"/>
            <a:ext cx="91440" cy="91440"/>
          </a:xfrm>
          <a:prstGeom prst="ellipse">
            <a:avLst/>
          </a:prstGeom>
          <a:solidFill>
            <a:srgbClr val="B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12280" y="2944368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Appreciation +1.11; Popularity −0.88; Engagement −1.69; Market Reach −0.79</a:t>
            </a:r>
          </a:p>
        </p:txBody>
      </p:sp>
      <p:sp>
        <p:nvSpPr>
          <p:cNvPr id="80" name="Oval 79"/>
          <p:cNvSpPr/>
          <p:nvPr/>
        </p:nvSpPr>
        <p:spPr>
          <a:xfrm>
            <a:off x="6601968" y="3602736"/>
            <a:ext cx="91440" cy="91440"/>
          </a:xfrm>
          <a:prstGeom prst="ellipse">
            <a:avLst/>
          </a:prstGeom>
          <a:solidFill>
            <a:srgbClr val="B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12280" y="3511296"/>
            <a:ext cx="40873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F5F5F"/>
                </a:solidFill>
                <a:latin typeface="Arial"/>
              </a:rPr>
              <a:t>Cute +24.8 pp; Casual +17.6 pp; Stylized +16.7 pp among enriched tags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56248" y="4480560"/>
            <a:ext cx="4343400" cy="795528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11696" y="4562856"/>
            <a:ext cx="40325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57E20"/>
                </a:solidFill>
                <a:latin typeface="Arial"/>
              </a:rPr>
              <a:t>INTERPRETATION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11696" y="4806241"/>
            <a:ext cx="4032504" cy="409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30" dirty="0">
                <a:solidFill>
                  <a:srgbClr val="2D2D2D"/>
                </a:solidFill>
                <a:latin typeface="Arial"/>
              </a:rPr>
              <a:t>Strong user reception does not necessarily imply broad visibility, reach, or recorded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egnaposto piè di pagina 5"/>
          <p:cNvSpPr/>
          <p:nvPr/>
        </p:nvSpPr>
        <p:spPr>
          <a:xfrm>
            <a:off x="2666880" y="6400800"/>
            <a:ext cx="38610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Game DNA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egnaposto numero diapositiva 6"/>
          <p:cNvSpPr/>
          <p:nvPr/>
        </p:nvSpPr>
        <p:spPr>
          <a:xfrm>
            <a:off x="9131400" y="6431040"/>
            <a:ext cx="2539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>
                <a:solidFill>
                  <a:srgbClr val="FFFFFF"/>
                </a:solidFill>
                <a:latin typeface="Arial"/>
              </a:rPr>
              <a:t>Page 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egnaposto data 4"/>
          <p:cNvSpPr/>
          <p:nvPr/>
        </p:nvSpPr>
        <p:spPr>
          <a:xfrm>
            <a:off x="6629400" y="6431040"/>
            <a:ext cx="210816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norm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>
                <a:solidFill>
                  <a:srgbClr val="FFFFFF"/>
                </a:solidFill>
                <a:latin typeface="Arial"/>
              </a:rPr>
              <a:t>September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Box 10"/>
          <p:cNvSpPr/>
          <p:nvPr/>
        </p:nvSpPr>
        <p:spPr>
          <a:xfrm>
            <a:off x="1343160" y="776160"/>
            <a:ext cx="870084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l">
              <a:spcBef>
                <a:spcPts val="1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50" b="0">
                <a:solidFill>
                  <a:srgbClr val="5F5F5F"/>
                </a:solidFill>
                <a:latin typeface="Arial"/>
              </a:rPr>
              <a:t>What Game DNA demonstrates and what the system is designed to support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42800" y="409680"/>
            <a:ext cx="10225080" cy="5047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6800" rIns="90000" bIns="46800" anchor="t">
            <a:sp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 b="1">
                <a:solidFill>
                  <a:srgbClr val="822433"/>
                </a:solidFill>
                <a:latin typeface="Arial"/>
              </a:rPr>
              <a:t>Conclusions</a:t>
            </a:r>
            <a:endParaRPr lang="it-IT" sz="2400" b="1" u="none" strike="noStrike">
              <a:solidFill>
                <a:srgbClr val="822433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417320" y="1481328"/>
            <a:ext cx="9646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27632" y="1664208"/>
            <a:ext cx="457200" cy="457200"/>
          </a:xfrm>
          <a:prstGeom prst="ellipse">
            <a:avLst/>
          </a:prstGeom>
          <a:solidFill>
            <a:srgbClr val="00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27632" y="17373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160934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D2D2D"/>
                </a:solidFill>
                <a:latin typeface="Arial"/>
              </a:rPr>
              <a:t>Multidimensional overview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1581912"/>
            <a:ext cx="60807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40" b="0">
                <a:solidFill>
                  <a:srgbClr val="5F5F5F"/>
                </a:solidFill>
                <a:latin typeface="Arial"/>
              </a:rPr>
              <a:t>PCA provides an interpretable market map, while the complete six-dimensional Game DNA representation preserves the detail needed for comparison.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17320" y="2560320"/>
            <a:ext cx="9646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627632" y="2743200"/>
            <a:ext cx="457200" cy="457200"/>
          </a:xfrm>
          <a:prstGeom prst="ellipse">
            <a:avLst/>
          </a:prstGeom>
          <a:solidFill>
            <a:srgbClr val="82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27632" y="281635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31720" y="268833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D2D2D"/>
                </a:solidFill>
                <a:latin typeface="Arial"/>
              </a:rPr>
              <a:t>Interaction-driven analytics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2660903"/>
            <a:ext cx="60807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40" b="0">
                <a:solidFill>
                  <a:srgbClr val="5F5F5F"/>
                </a:solidFill>
                <a:latin typeface="Arial"/>
              </a:rPr>
              <a:t>Coordinated views connect visual exploration with Group Characterization, Tag Enrichment and full-space Game Similarity.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17320" y="3639312"/>
            <a:ext cx="964692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627632" y="3822191"/>
            <a:ext cx="457200" cy="457200"/>
          </a:xfrm>
          <a:prstGeom prst="ellipse">
            <a:avLst/>
          </a:prstGeom>
          <a:solidFill>
            <a:srgbClr val="4DA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627632" y="390448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31720" y="3767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D2D2D"/>
                </a:solidFill>
                <a:latin typeface="Arial"/>
              </a:rPr>
              <a:t>Practical analytical value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0" y="3739896"/>
            <a:ext cx="60807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40" b="0">
                <a:solidFill>
                  <a:srgbClr val="5F5F5F"/>
                </a:solidFill>
                <a:latin typeface="Arial"/>
              </a:rPr>
              <a:t>The system reveals interpretable market segments and comparable titles, including similarities that cross conventional genre boundaries.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7320" y="4846320"/>
            <a:ext cx="9646920" cy="758952"/>
          </a:xfrm>
          <a:prstGeom prst="roundRect">
            <a:avLst/>
          </a:prstGeom>
          <a:solidFill>
            <a:srgbClr val="F5F1F2"/>
          </a:solidFill>
          <a:ln w="12700">
            <a:solidFill>
              <a:srgbClr val="DC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664208" y="500176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>
                <a:solidFill>
                  <a:srgbClr val="822433"/>
                </a:solidFill>
                <a:latin typeface="Arial"/>
              </a:rPr>
              <a:t>FINAL TAKEAWAY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94660" y="4988052"/>
            <a:ext cx="7269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2D2D2D"/>
                </a:solidFill>
                <a:latin typeface="Arial"/>
              </a:rPr>
              <a:t>Game DNA supports exploratory market positioning and comparable-product analysis; it is not a commercial-success prediction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1858</TotalTime>
  <Words>762</Words>
  <Application>Microsoft Office PowerPoint</Application>
  <PresentationFormat>Personalizzato</PresentationFormat>
  <Paragraphs>155</Paragraphs>
  <Slides>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0" baseType="lpstr">
      <vt:lpstr>Arial</vt:lpstr>
      <vt:lpstr>Office</vt:lpstr>
      <vt:lpstr>Game DNA</vt:lpstr>
      <vt:lpstr>Problem, Goal &amp; Intended User</vt:lpstr>
      <vt:lpstr>Dataset &amp; Game DNA Representation</vt:lpstr>
      <vt:lpstr>Dimensionality Reduction &amp; Analytical Functions</vt:lpstr>
      <vt:lpstr>Visual System</vt:lpstr>
      <vt:lpstr>Representative Findings I</vt:lpstr>
      <vt:lpstr>Representative Findings II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Simone Amoriello</cp:lastModifiedBy>
  <cp:revision>2</cp:revision>
  <dcterms:modified xsi:type="dcterms:W3CDTF">2026-09-22T15:04:31Z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2006-11-20T16:13:10Z</dcterms:created>
  <dc:creator>- -</dc:creator>
  <dc:description/>
  <cp:keywords/>
  <dc:language>en-US</dc:language>
  <cp:lastModifiedBy>Carchedi Daniela</cp:lastModifiedBy>
  <dcterms:modified xsi:type="dcterms:W3CDTF">2026-07-08T07:11:03Z</dcterms:modified>
  <cp:revision>35</cp:revision>
  <dc:subject/>
  <dc:title>Presentazione di PowerPoint</dc:title>
</cp:coreProperties>
</file>